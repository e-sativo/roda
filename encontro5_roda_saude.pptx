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5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3D7A4A">
              <a:alpha val="30000"/>
            </a:srgbClr>
          </a:solidFill>
          <a:ln w="12700">
            <a:solidFill>
              <a:srgbClr val="3D7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3D7A4A">
              <a:alpha val="20000"/>
            </a:srgbClr>
          </a:solidFill>
          <a:ln w="12700">
            <a:solidFill>
              <a:srgbClr val="3D7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2011680" cy="292608"/>
          </a:xfrm>
          <a:prstGeom prst="rect">
            <a:avLst/>
          </a:prstGeom>
          <a:solidFill>
            <a:srgbClr val="C9A96E">
              <a:alpha val="25000"/>
            </a:srgbClr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C9A96E"/>
                </a:solidFill>
              </a:rPr>
              <a:t>RODA DA SAÚDE · ENCONTRO 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5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Saúde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i="1" dirty="0">
                <a:solidFill>
                  <a:srgbClr val="A8C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Inflamatória: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Alimentação e Estilo de Vida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1097280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611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Integrando o aprendizado do ciclo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A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Sativo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2D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 inflamação?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Inflamação é a resposta natural do corpo a agressores. O problema não é a inflamação aguda — é a inflamação crônica de baixo grau, silenciosa, que sustenta doenças.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3931920" cy="2743200"/>
          </a:xfrm>
          <a:prstGeom prst="rect">
            <a:avLst/>
          </a:prstGeom>
          <a:solidFill>
            <a:srgbClr val="F0F7F2"/>
          </a:solidFill>
          <a:ln w="25400">
            <a:solidFill>
              <a:srgbClr val="4A8C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402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Inflamação aguda 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3383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imune protetora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 dias a semanas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 uma lesão ou infecção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visíveis: vermelhidão, calor, dor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2103120"/>
            <a:ext cx="3931920" cy="2743200"/>
          </a:xfrm>
          <a:prstGeom prst="rect">
            <a:avLst/>
          </a:prstGeom>
          <a:solidFill>
            <a:srgbClr val="FFF8F0"/>
          </a:solidFill>
          <a:ln w="25400">
            <a:solidFill>
              <a:srgbClr val="C9A9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22402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07C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Inflamação crônica ⚠️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20640" y="2743200"/>
            <a:ext cx="3383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Silenciosa e persistente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 meses a anos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Associada à obesidade, DM2, DCV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Alimentada por estilo de vida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Alimentação e inflamação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520440"/>
          </a:xfrm>
          <a:prstGeom prst="rect">
            <a:avLst/>
          </a:prstGeom>
          <a:solidFill>
            <a:srgbClr val="FFF3F3"/>
          </a:solidFill>
          <a:ln w="25400">
            <a:solidFill>
              <a:srgbClr val="E8A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🔥 Pró-inflamatórios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35204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Ultraprocessados e fast food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Açúcar em excesso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Gorduras trans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Álcool em excesso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Carnes processadas (embutidos)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Farinha refinada em excesso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371600"/>
            <a:ext cx="3931920" cy="3520440"/>
          </a:xfrm>
          <a:prstGeom prst="rect">
            <a:avLst/>
          </a:prstGeom>
          <a:solidFill>
            <a:srgbClr val="F0F7F2"/>
          </a:solidFill>
          <a:ln w="25400">
            <a:solidFill>
              <a:srgbClr val="4A8C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5087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🌿 Anti-inflamatórios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74920" y="2011680"/>
            <a:ext cx="35204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Vegetais coloridos (especialmente verde-escuros)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Frutas vermelhas e cítricas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Azeite de oliva extra-virgem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Peixes gordos (sardinha, atum, salmão)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Cúrcuma, gengibre, alho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Oleaginosas (castanhas, nozes)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5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3D7A4A">
              <a:alpha val="40000"/>
            </a:srgbClr>
          </a:solidFill>
          <a:ln w="12700">
            <a:solidFill>
              <a:srgbClr val="3D7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Além da comida: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estilo de vida inflama ou protege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560320" cy="1280160"/>
          </a:xfrm>
          <a:prstGeom prst="rect">
            <a:avLst/>
          </a:prstGeom>
          <a:solidFill>
            <a:srgbClr val="3D7A4A">
              <a:alpha val="60000"/>
            </a:srgbClr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94767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😴  Sono insuficiente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2295144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 IL-6 e PCR — marcadores inflamatórios — já após uma noite ruim.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874520"/>
            <a:ext cx="2560320" cy="1280160"/>
          </a:xfrm>
          <a:prstGeom prst="rect">
            <a:avLst/>
          </a:prstGeom>
          <a:solidFill>
            <a:srgbClr val="3D7A4A">
              <a:alpha val="60000"/>
            </a:srgbClr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93008" y="194767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😰  Estresse crônico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93008" y="2295144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Cortisol elevado perpetua a cascata inflamatória no tecido adiposo.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874520"/>
            <a:ext cx="2560320" cy="1280160"/>
          </a:xfrm>
          <a:prstGeom prst="rect">
            <a:avLst/>
          </a:prstGeom>
          <a:solidFill>
            <a:srgbClr val="3D7A4A">
              <a:alpha val="60000"/>
            </a:srgbClr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27648" y="194767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🚶  Sedentarismo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27648" y="2295144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inatividade é um fator inflamatório independente — mesmo sem sobrepeso.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2560320" cy="1280160"/>
          </a:xfrm>
          <a:prstGeom prst="rect">
            <a:avLst/>
          </a:prstGeom>
          <a:solidFill>
            <a:srgbClr val="3D7A4A">
              <a:alpha val="60000"/>
            </a:srgbClr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41071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🏃  Movimento regular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" y="3758184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PCR, IL-6 e TNF-α — anti-inflamatório potente e gratuito.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83280" y="3337560"/>
            <a:ext cx="2560320" cy="1280160"/>
          </a:xfrm>
          <a:prstGeom prst="rect">
            <a:avLst/>
          </a:prstGeom>
          <a:solidFill>
            <a:srgbClr val="3D7A4A">
              <a:alpha val="60000"/>
            </a:srgbClr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93008" y="341071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Alimentação protetora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93008" y="3758184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mediterrâneo associado à menor inflamação sistêmica em todos os estudos.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3337560"/>
            <a:ext cx="2560320" cy="1280160"/>
          </a:xfrm>
          <a:prstGeom prst="rect">
            <a:avLst/>
          </a:prstGeom>
          <a:solidFill>
            <a:srgbClr val="3D7A4A">
              <a:alpha val="60000"/>
            </a:srgbClr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27648" y="341071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Conexão social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27648" y="3758184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Solidão aumenta marcadores inflamatórios — relações saudáveis protegem.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A07C40"/>
          </a:solidFill>
          <a:ln w="12700">
            <a:solidFill>
              <a:srgbClr val="A07C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Integrando tudo que aprendemos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A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encontro foi uma peça do mesmo cuidado.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02920" cy="502920"/>
          </a:xfrm>
          <a:prstGeom prst="ellipse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90195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Obesidade como Sintoma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80560" y="190195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A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 corpo pede cuidado, não punição.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8229600" cy="0"/>
          </a:xfrm>
          <a:prstGeom prst="line">
            <a:avLst/>
          </a:prstGeom>
          <a:noFill/>
          <a:ln w="12700">
            <a:solidFill>
              <a:srgbClr val="E8E0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514600"/>
            <a:ext cx="502920" cy="502920"/>
          </a:xfrm>
          <a:prstGeom prst="ellipse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254203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Cérebro e a Comida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80560" y="254203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A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Emoções e hormônios guiam o que comemos.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8229600" cy="0"/>
          </a:xfrm>
          <a:prstGeom prst="line">
            <a:avLst/>
          </a:prstGeom>
          <a:noFill/>
          <a:ln w="12700">
            <a:solidFill>
              <a:srgbClr val="E8E0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54680"/>
            <a:ext cx="502920" cy="502920"/>
          </a:xfrm>
          <a:prstGeom prst="ellipse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18211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Sono, Estresse e Peso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80560" y="318211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A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Tríade que se retroalimenta — e pode ser revertida.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703320"/>
            <a:ext cx="8229600" cy="0"/>
          </a:xfrm>
          <a:prstGeom prst="line">
            <a:avLst/>
          </a:prstGeom>
          <a:noFill/>
          <a:ln w="12700">
            <a:solidFill>
              <a:srgbClr val="E8E0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794760"/>
            <a:ext cx="502920" cy="502920"/>
          </a:xfrm>
          <a:prstGeom prst="ellipse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382219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Movimento Intuitivo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480560" y="382219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A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 movimento como prazer e não como penitência.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343400"/>
            <a:ext cx="8229600" cy="0"/>
          </a:xfrm>
          <a:prstGeom prst="line">
            <a:avLst/>
          </a:prstGeom>
          <a:noFill/>
          <a:ln w="12700">
            <a:solidFill>
              <a:srgbClr val="E8E0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434840"/>
            <a:ext cx="502920" cy="502920"/>
          </a:xfrm>
          <a:prstGeom prst="ellipse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43000" y="446227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Inflamatória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480560" y="446227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A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 estilo de vida como remédio ou veneno.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5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3D7A4A">
              <a:alpha val="30000"/>
            </a:srgbClr>
          </a:solidFill>
          <a:ln w="12700">
            <a:solidFill>
              <a:srgbClr val="3D7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3D7A4A">
              <a:alpha val="30000"/>
            </a:srgbClr>
          </a:solidFill>
          <a:ln w="12700">
            <a:solidFill>
              <a:srgbClr val="3D7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💬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Reflexão de encerramento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ciclo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8046720" cy="749808"/>
          </a:xfrm>
          <a:prstGeom prst="rect">
            <a:avLst/>
          </a:prstGeom>
          <a:solidFill>
            <a:srgbClr val="3D7A4A">
              <a:alpha val="50000"/>
            </a:srgbClr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7744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Qual foi o maior aprendizado deste ciclo para você?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8046720" cy="749808"/>
          </a:xfrm>
          <a:prstGeom prst="rect">
            <a:avLst/>
          </a:prstGeom>
          <a:solidFill>
            <a:srgbClr val="3D7A4A">
              <a:alpha val="50000"/>
            </a:srgbClr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29184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O que você vai levar daqui para o seu cuidado diário?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8046720" cy="749808"/>
          </a:xfrm>
          <a:prstGeom prst="rect">
            <a:avLst/>
          </a:prstGeom>
          <a:solidFill>
            <a:srgbClr val="3D7A4A">
              <a:alpha val="50000"/>
            </a:srgbClr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20624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Como você gostaria de continuar essa jornada?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5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029200" cy="5029200"/>
          </a:xfrm>
          <a:prstGeom prst="ellipse">
            <a:avLst/>
          </a:prstGeom>
          <a:solidFill>
            <a:srgbClr val="3D7A4A">
              <a:alpha val="35000"/>
            </a:srgbClr>
          </a:solidFill>
          <a:ln w="12700">
            <a:solidFill>
              <a:srgbClr val="3D7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Obrigada por cada encontro.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A8C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cada história partilhada.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cada passo no cuidado de si.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1280160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8346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roda continua girando. 🌿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474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  (85) 98132-3400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  jacomel.mfc@gmail.com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e-sativo.github.io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709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A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Sativo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Roda da Saúde · Encontro 5</dc:title>
  <dc:subject>PptxGenJS Presentation</dc:subject>
  <dc:creator>PptxGenJS</dc:creator>
  <cp:lastModifiedBy>PptxGenJS</cp:lastModifiedBy>
  <cp:revision>1</cp:revision>
  <dcterms:created xsi:type="dcterms:W3CDTF">2026-03-19T20:45:29Z</dcterms:created>
  <dcterms:modified xsi:type="dcterms:W3CDTF">2026-03-19T20:45:29Z</dcterms:modified>
</cp:coreProperties>
</file>